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9"/>
  </p:notesMasterIdLst>
  <p:sldIdLst>
    <p:sldId id="257" r:id="rId2"/>
    <p:sldId id="259" r:id="rId3"/>
    <p:sldId id="271" r:id="rId4"/>
    <p:sldId id="282" r:id="rId5"/>
    <p:sldId id="272" r:id="rId6"/>
    <p:sldId id="292" r:id="rId7"/>
    <p:sldId id="291" r:id="rId8"/>
    <p:sldId id="273" r:id="rId9"/>
    <p:sldId id="284" r:id="rId10"/>
    <p:sldId id="285" r:id="rId11"/>
    <p:sldId id="286" r:id="rId12"/>
    <p:sldId id="287" r:id="rId13"/>
    <p:sldId id="288" r:id="rId14"/>
    <p:sldId id="289" r:id="rId15"/>
    <p:sldId id="283" r:id="rId16"/>
    <p:sldId id="290" r:id="rId17"/>
    <p:sldId id="262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71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2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66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67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048668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69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70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Google Shape;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048590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8591" name="Google Shape;82;p1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30 June 2023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592" name="Google Shape;83;p1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1-59</a:t>
            </a:r>
          </a:p>
        </p:txBody>
      </p:sp>
      <p:sp>
        <p:nvSpPr>
          <p:cNvPr id="1048593" name="Google Shape;8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7388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048606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Google Shape;149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8627" name="Google Shape;15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9" name="Google Shape;14;p24"/>
          <p:cNvSpPr txBox="1"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80" name="Google Shape;15;p24"/>
          <p:cNvSpPr txBox="1"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581" name="Google Shape;16;p24"/>
          <p:cNvSpPr txBox="1">
            <a:spLocks noGrp="1"/>
          </p:cNvSpPr>
          <p:nvPr>
            <p:ph type="body" idx="2"/>
          </p:nvPr>
        </p:nvSpPr>
        <p:spPr>
          <a:xfrm>
            <a:off x="6193368" y="1859758"/>
            <a:ext cx="5389033" cy="654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582" name="Google Shape;17;p24"/>
          <p:cNvSpPr txBox="1">
            <a:spLocks noGrp="1"/>
          </p:cNvSpPr>
          <p:nvPr>
            <p:ph type="body" idx="3"/>
          </p:nvPr>
        </p:nvSpPr>
        <p:spPr>
          <a:xfrm>
            <a:off x="609600" y="2514600"/>
            <a:ext cx="5386917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583" name="Google Shape;18;p24"/>
          <p:cNvSpPr txBox="1">
            <a:spLocks noGrp="1"/>
          </p:cNvSpPr>
          <p:nvPr>
            <p:ph type="body" idx="4"/>
          </p:nvPr>
        </p:nvSpPr>
        <p:spPr>
          <a:xfrm>
            <a:off x="6193368" y="2514600"/>
            <a:ext cx="5389033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584" name="Google Shape;19;p2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85" name="Google Shape;20;p24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Google Shape;22;p25"/>
          <p:cNvSpPr txBox="1"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Arial"/>
              <a:buNone/>
              <a:defRPr sz="5600" b="1">
                <a:solidFill>
                  <a:srgbClr val="4CE0E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98" name="Google Shape;23;p25"/>
          <p:cNvSpPr txBox="1"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Autofit/>
          </a:bodyPr>
          <a:lstStyle>
            <a:lvl1pPr marR="45720" lvl="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lvl9pPr>
          </a:lstStyle>
          <a:p>
            <a:endParaRPr/>
          </a:p>
        </p:txBody>
      </p:sp>
      <p:sp>
        <p:nvSpPr>
          <p:cNvPr id="1048599" name="Google Shape;24;p2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00" name="Google Shape;25;p25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Google Shape;27;p26"/>
          <p:cNvSpPr txBox="1"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22" name="Google Shape;28;p26"/>
          <p:cNvSpPr txBox="1">
            <a:spLocks noGrp="1"/>
          </p:cNvSpPr>
          <p:nvPr>
            <p:ph type="body" idx="1"/>
          </p:nvPr>
        </p:nvSpPr>
        <p:spPr>
          <a:xfrm>
            <a:off x="609600" y="1935164"/>
            <a:ext cx="109728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23" name="Google Shape;29;p2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24" name="Google Shape;30;p26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Google Shape;35;p28"/>
          <p:cNvSpPr txBox="1"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Arial"/>
              <a:buNone/>
              <a:defRPr sz="5600" b="1" cap="none">
                <a:solidFill>
                  <a:srgbClr val="4AE3A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4" name="Google Shape;36;p28"/>
          <p:cNvSpPr txBox="1"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22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55" name="Google Shape;37;p2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6" name="Google Shape;38;p28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Google Shape;40;p29"/>
          <p:cNvSpPr txBox="1"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29" name="Google Shape;41;p29"/>
          <p:cNvSpPr txBox="1">
            <a:spLocks noGrp="1"/>
          </p:cNvSpPr>
          <p:nvPr>
            <p:ph type="body" idx="1"/>
          </p:nvPr>
        </p:nvSpPr>
        <p:spPr>
          <a:xfrm>
            <a:off x="609600" y="1920085"/>
            <a:ext cx="53848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30" name="Google Shape;42;p29"/>
          <p:cNvSpPr txBox="1">
            <a:spLocks noGrp="1"/>
          </p:cNvSpPr>
          <p:nvPr>
            <p:ph type="body" idx="2"/>
          </p:nvPr>
        </p:nvSpPr>
        <p:spPr>
          <a:xfrm>
            <a:off x="6197600" y="1920085"/>
            <a:ext cx="53848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31" name="Google Shape;43;p2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2" name="Google Shape;44;p29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Google Shape;46;p30"/>
          <p:cNvSpPr txBox="1"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  <a:defRPr sz="50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8" name="Google Shape;47;p3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9" name="Google Shape;48;p30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Google Shape;50;p31"/>
          <p:cNvSpPr txBox="1"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sz="26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1" name="Google Shape;51;p31"/>
          <p:cNvSpPr txBox="1">
            <a:spLocks noGrp="1"/>
          </p:cNvSpPr>
          <p:nvPr>
            <p:ph type="body" idx="1"/>
          </p:nvPr>
        </p:nvSpPr>
        <p:spPr>
          <a:xfrm>
            <a:off x="914400" y="1676400"/>
            <a:ext cx="3657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45700" rIns="1827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62" name="Google Shape;52;p31"/>
          <p:cNvSpPr txBox="1">
            <a:spLocks noGrp="1"/>
          </p:cNvSpPr>
          <p:nvPr>
            <p:ph type="body" idx="2"/>
          </p:nvPr>
        </p:nvSpPr>
        <p:spPr>
          <a:xfrm>
            <a:off x="4766733" y="1676400"/>
            <a:ext cx="681566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7084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Char char="⮚"/>
              <a:defRPr sz="2800"/>
            </a:lvl1pPr>
            <a:lvl2pPr marL="914400" lvl="1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2pPr>
            <a:lvl3pPr marL="1371600" lvl="2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3pPr>
            <a:lvl4pPr marL="182880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63" name="Google Shape;53;p3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4" name="Google Shape;54;p31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Google Shape;56;p32"/>
          <p:cNvSpPr/>
          <p:nvPr/>
        </p:nvSpPr>
        <p:spPr>
          <a:xfrm rot="-10380000" flipH="1">
            <a:off x="4220633" y="1108075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500" dir="7500000" sx="98500" sy="100080" kx="100000" algn="tl" rotWithShape="0">
              <a:srgbClr val="000000">
                <a:alpha val="2431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641" name="Google Shape;57;p32"/>
          <p:cNvSpPr/>
          <p:nvPr/>
        </p:nvSpPr>
        <p:spPr>
          <a:xfrm rot="-10380000" flipH="1">
            <a:off x="10672234" y="5359401"/>
            <a:ext cx="207433" cy="155575"/>
          </a:xfrm>
          <a:prstGeom prst="rtTriangle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bevel/>
            <a:headEnd type="none" w="sm" len="sm"/>
            <a:tailEnd type="none" w="sm" len="sm"/>
          </a:ln>
          <a:effectLst>
            <a:outerShdw blurRad="19685" dist="6350" dir="12900000" algn="tl" rotWithShape="0">
              <a:srgbClr val="000000">
                <a:alpha val="4627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642" name="Google Shape;58;p32"/>
          <p:cNvSpPr/>
          <p:nvPr/>
        </p:nvSpPr>
        <p:spPr>
          <a:xfrm rot="10800000" flipH="1">
            <a:off x="-12700" y="5816600"/>
            <a:ext cx="1221740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313"/>
                </a:srgbClr>
              </a:gs>
              <a:gs pos="100000">
                <a:srgbClr val="00E9F7">
                  <a:alpha val="54509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643" name="Google Shape;59;p32"/>
          <p:cNvSpPr/>
          <p:nvPr/>
        </p:nvSpPr>
        <p:spPr>
          <a:xfrm rot="10800000" flipH="1">
            <a:off x="5842000" y="6219826"/>
            <a:ext cx="63500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411"/>
                </a:srgbClr>
              </a:gs>
              <a:gs pos="80000">
                <a:srgbClr val="0099E4">
                  <a:alpha val="44313"/>
                </a:srgbClr>
              </a:gs>
              <a:gs pos="100000">
                <a:srgbClr val="0099E4">
                  <a:alpha val="44313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644" name="Google Shape;60;p32"/>
          <p:cNvSpPr txBox="1"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sz="20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5" name="Google Shape;61;p32"/>
          <p:cNvSpPr txBox="1">
            <a:spLocks noGrp="1"/>
          </p:cNvSpPr>
          <p:nvPr>
            <p:ph type="body" idx="1"/>
          </p:nvPr>
        </p:nvSpPr>
        <p:spPr>
          <a:xfrm>
            <a:off x="812800" y="2828785"/>
            <a:ext cx="2946400" cy="217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Arial"/>
              <a:buNone/>
              <a:defRPr sz="1300"/>
            </a:lvl1pPr>
            <a:lvl2pPr marL="914400" lvl="1" indent="-28956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Char char="⮚"/>
              <a:defRPr sz="1200"/>
            </a:lvl2pPr>
            <a:lvl3pPr marL="1371600" lvl="2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⮚"/>
              <a:defRPr sz="1000"/>
            </a:lvl3pPr>
            <a:lvl4pPr marL="1828800" lvl="3" indent="-274319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4pPr>
            <a:lvl5pPr marL="2286000" lvl="4" indent="-27432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46" name="Google Shape;62;p32"/>
          <p:cNvSpPr>
            <a:spLocks noGrp="1"/>
          </p:cNvSpPr>
          <p:nvPr>
            <p:ph type="pic" idx="2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lt2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048647" name="Google Shape;63;p3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8" name="Google Shape;64;p32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Google Shape;66;p33"/>
          <p:cNvSpPr txBox="1"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0" name="Google Shape;67;p33"/>
          <p:cNvSpPr txBox="1">
            <a:spLocks noGrp="1"/>
          </p:cNvSpPr>
          <p:nvPr>
            <p:ph type="body" idx="1"/>
          </p:nvPr>
        </p:nvSpPr>
        <p:spPr>
          <a:xfrm rot="5400000">
            <a:off x="3901282" y="-1356518"/>
            <a:ext cx="4389437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51" name="Google Shape;68;p3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2" name="Google Shape;69;p33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Google Shape;71;p34"/>
          <p:cNvSpPr txBox="1">
            <a:spLocks noGrp="1"/>
          </p:cNvSpPr>
          <p:nvPr>
            <p:ph type="title"/>
          </p:nvPr>
        </p:nvSpPr>
        <p:spPr>
          <a:xfrm rot="5400000">
            <a:off x="7604919" y="2148684"/>
            <a:ext cx="5211763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7" name="Google Shape;72;p34"/>
          <p:cNvSpPr txBox="1">
            <a:spLocks noGrp="1"/>
          </p:cNvSpPr>
          <p:nvPr>
            <p:ph type="body" idx="1"/>
          </p:nvPr>
        </p:nvSpPr>
        <p:spPr>
          <a:xfrm rot="5400000">
            <a:off x="2016919" y="-492917"/>
            <a:ext cx="5211763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38" name="Google Shape;73;p3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9" name="Google Shape;74;p34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Google Shape;76;p35"/>
          <p:cNvSpPr txBox="1"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4" name="Google Shape;77;p3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5" name="Google Shape;78;p35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10;p23"/>
          <p:cNvSpPr txBox="1"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577" name="Google Shape;11;p23"/>
          <p:cNvSpPr txBox="1">
            <a:spLocks noGrp="1"/>
          </p:cNvSpPr>
          <p:nvPr>
            <p:ph type="body" idx="1"/>
          </p:nvPr>
        </p:nvSpPr>
        <p:spPr>
          <a:xfrm>
            <a:off x="609600" y="1935164"/>
            <a:ext cx="109728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003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9879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8578" name="Google Shape;12;p2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mailto:srichakritraderstup@gmail.com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expressjs.com/" TargetMode="External"/><Relationship Id="rId7" Type="http://schemas.openxmlformats.org/officeDocument/2006/relationships/hyperlink" Target="https://developers.brevo.com/docs/getting-started" TargetMode="External"/><Relationship Id="rId2" Type="http://schemas.openxmlformats.org/officeDocument/2006/relationships/hyperlink" Target="https://nodejs.org/docs/latest/api/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mongodb.com/docs/" TargetMode="External"/><Relationship Id="rId5" Type="http://schemas.openxmlformats.org/officeDocument/2006/relationships/hyperlink" Target="https://nodemailer.com/" TargetMode="External"/><Relationship Id="rId4" Type="http://schemas.openxmlformats.org/officeDocument/2006/relationships/hyperlink" Target="https://pdf-lib.js.org/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Google Shape;86;p1"/>
          <p:cNvSpPr txBox="1">
            <a:spLocks noGrp="1"/>
          </p:cNvSpPr>
          <p:nvPr>
            <p:ph type="title"/>
          </p:nvPr>
        </p:nvSpPr>
        <p:spPr>
          <a:xfrm>
            <a:off x="3836753" y="967714"/>
            <a:ext cx="8086165" cy="115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lvl="0" algn="ctr"/>
            <a:br>
              <a:rPr lang="en-US" sz="24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24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Proforma Invoice Generator and Email Sending System</a:t>
            </a:r>
          </a:p>
        </p:txBody>
      </p:sp>
      <p:sp>
        <p:nvSpPr>
          <p:cNvPr id="1048587" name="Google Shape;87;p1"/>
          <p:cNvSpPr txBox="1">
            <a:spLocks noGrp="1"/>
          </p:cNvSpPr>
          <p:nvPr>
            <p:ph type="body" idx="1"/>
          </p:nvPr>
        </p:nvSpPr>
        <p:spPr>
          <a:xfrm>
            <a:off x="1472513" y="2121013"/>
            <a:ext cx="4040100" cy="6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60"/>
              <a:buNone/>
            </a:pPr>
            <a:endParaRPr sz="3200" dirty="0">
              <a:solidFill>
                <a:srgbClr val="B9077E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9077E"/>
              </a:buClr>
              <a:buSzPts val="2560"/>
              <a:buNone/>
            </a:pPr>
            <a:r>
              <a:rPr lang="en-US" sz="3200" dirty="0">
                <a:solidFill>
                  <a:srgbClr val="B9077E"/>
                </a:solidFill>
              </a:rPr>
              <a:t>    </a:t>
            </a:r>
            <a:endParaRPr sz="3200" dirty="0"/>
          </a:p>
        </p:txBody>
      </p:sp>
      <p:pic>
        <p:nvPicPr>
          <p:cNvPr id="2097152" name="Google Shape;88;p1" descr="klogo copy.png"/>
          <p:cNvPicPr preferRelativeResize="0">
            <a:picLocks/>
          </p:cNvPicPr>
          <p:nvPr/>
        </p:nvPicPr>
        <p:blipFill rotWithShape="1">
          <a:blip r:embed="rId4">
            <a:alphaModFix/>
          </a:blip>
          <a:srcRect/>
          <a:stretch>
            <a:fillRect/>
          </a:stretch>
        </p:blipFill>
        <p:spPr>
          <a:xfrm>
            <a:off x="2286851" y="1589512"/>
            <a:ext cx="1374775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3" name="Google Shape;89;p1" descr="kec2blackborder png.PNG"/>
          <p:cNvPicPr preferRelativeResize="0">
            <a:picLocks/>
          </p:cNvPicPr>
          <p:nvPr/>
        </p:nvPicPr>
        <p:blipFill rotWithShape="1">
          <a:blip r:embed="rId5">
            <a:alphaModFix/>
          </a:blip>
          <a:srcRect/>
          <a:stretch>
            <a:fillRect/>
          </a:stretch>
        </p:blipFill>
        <p:spPr>
          <a:xfrm>
            <a:off x="887859" y="4413708"/>
            <a:ext cx="1479550" cy="184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8" name="Google Shape;90;p1"/>
          <p:cNvSpPr/>
          <p:nvPr/>
        </p:nvSpPr>
        <p:spPr>
          <a:xfrm>
            <a:off x="7228549" y="2656312"/>
            <a:ext cx="5353200" cy="4031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br>
              <a:rPr lang="en-US" sz="1800" b="1" dirty="0">
                <a:solidFill>
                  <a:srgbClr val="FF0000"/>
                </a:solidFill>
                <a:latin typeface="Times New Roman"/>
                <a:cs typeface="Times New Roman"/>
                <a:sym typeface="Times New Roman"/>
              </a:rPr>
            </a:br>
            <a:r>
              <a:rPr lang="en-US" sz="1800" b="1" dirty="0">
                <a:solidFill>
                  <a:srgbClr val="FF0000"/>
                </a:solidFill>
                <a:latin typeface="Times New Roman"/>
                <a:cs typeface="Times New Roman"/>
                <a:sym typeface="Times New Roman"/>
              </a:rPr>
              <a:t>DONE BY:</a:t>
            </a:r>
            <a:endParaRPr lang="en-US" sz="1800" dirty="0">
              <a:solidFill>
                <a:srgbClr val="FF0000"/>
              </a:solidFill>
            </a:endParaRPr>
          </a:p>
          <a:p>
            <a:pPr lvl="0">
              <a:buSzPts val="1700"/>
            </a:pPr>
            <a: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</a:rPr>
              <a:t>	Kavin Kharthik AP – 23ITR082</a:t>
            </a:r>
          </a:p>
          <a:p>
            <a:pPr lvl="0">
              <a:buSzPts val="1700"/>
            </a:pPr>
            <a: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</a:rPr>
              <a:t>	Pranesh Babu TJ -23ITR117</a:t>
            </a:r>
            <a:endParaRPr lang="en-US"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lang="en-US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MENTOR</a:t>
            </a:r>
            <a:r>
              <a:rPr lang="en-US" sz="1800" b="1" dirty="0">
                <a:solidFill>
                  <a:srgbClr val="FF0000"/>
                </a:solidFill>
              </a:rPr>
              <a:t>:</a:t>
            </a:r>
          </a:p>
          <a:p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Ms.T.S.Vishnu Priya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	Associate Professor/Department of IT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1600" b="1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Kongu</a:t>
            </a:r>
            <a:r>
              <a:rPr lang="en-US" sz="16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Engineering College</a:t>
            </a:r>
          </a:p>
          <a:p>
            <a:br>
              <a:rPr lang="en-US" sz="1700" b="1" dirty="0">
                <a:solidFill>
                  <a:srgbClr val="0B5394"/>
                </a:solidFill>
                <a:latin typeface="Times New Roman"/>
                <a:cs typeface="Times New Roman"/>
                <a:sym typeface="Times New Roman"/>
              </a:rPr>
            </a:br>
            <a:r>
              <a:rPr lang="en-US" sz="17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JAIHARI D	                       (19ITR028)    </a:t>
            </a:r>
            <a:endParaRPr sz="17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Google Shape;95;p2"/>
          <p:cNvSpPr/>
          <p:nvPr/>
        </p:nvSpPr>
        <p:spPr>
          <a:xfrm>
            <a:off x="3489960" y="536654"/>
            <a:ext cx="4358640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sz="4800" b="0" i="0" u="none" strike="noStrike" cap="none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8602" name="Google Shape;96;p2"/>
          <p:cNvSpPr txBox="1"/>
          <p:nvPr/>
        </p:nvSpPr>
        <p:spPr>
          <a:xfrm>
            <a:off x="9525001" y="6381750"/>
            <a:ext cx="6889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400"/>
              <a:buFont typeface="Noto Sans Symbols"/>
              <a:buNone/>
            </a:pPr>
            <a:endParaRPr sz="1400" b="0" i="0" u="none" strike="noStrike" cap="none" dirty="0">
              <a:solidFill>
                <a:srgbClr val="8898C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8603" name="Google Shape;97;p2"/>
          <p:cNvSpPr txBox="1"/>
          <p:nvPr/>
        </p:nvSpPr>
        <p:spPr>
          <a:xfrm>
            <a:off x="5791200" y="6381750"/>
            <a:ext cx="20574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C8DA9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A5B9057-F22D-A435-8C6F-9FD7C38289A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15520" y="2156863"/>
            <a:ext cx="10753265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web-based application for Proforma Invoice generation</a:t>
            </a:r>
          </a:p>
          <a:p>
            <a:pPr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automate invoice creation and generate invoices in PDF format</a:t>
            </a:r>
          </a:p>
          <a:p>
            <a:pPr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client–server communication for secure data processing</a:t>
            </a:r>
          </a:p>
          <a:p>
            <a:pPr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enable email sharing of generated invoices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055C1-AAD8-4F76-1FAF-FA99354FC6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64236" y="1777402"/>
            <a:ext cx="6204856" cy="566057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COMPANY DETAILS</a:t>
            </a:r>
            <a:br>
              <a:rPr lang="en-US" altLang="en-US" sz="4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800" b="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IN" sz="4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55B370A-8773-AE4D-96CB-6F7A41FF45E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992064" y="1210032"/>
            <a:ext cx="9572813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Company Name: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SRI CHAKRI TRADERS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Company Address: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222, C1, P.K.M.R.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Nagar,Dharapuram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Road,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Tirupur – 641 604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GST Number: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33DMSPD3047K1ZV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Email ID: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srichakritraderstup@gmail.com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Contact Number: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8072202136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Contact Person: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Mrs. T.J. Durga</a:t>
            </a:r>
          </a:p>
        </p:txBody>
      </p:sp>
    </p:spTree>
    <p:extLst>
      <p:ext uri="{BB962C8B-B14F-4D97-AF65-F5344CB8AC3E}">
        <p14:creationId xmlns:p14="http://schemas.microsoft.com/office/powerpoint/2010/main" val="3424677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A8471-BDB2-5043-C9C4-500D9AE349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5718" y="597299"/>
            <a:ext cx="6114930" cy="831310"/>
          </a:xfrm>
        </p:spPr>
        <p:txBody>
          <a:bodyPr>
            <a:noAutofit/>
          </a:bodyPr>
          <a:lstStyle/>
          <a:p>
            <a:r>
              <a:rPr lang="en-IN" sz="4000" dirty="0">
                <a:solidFill>
                  <a:srgbClr val="FF0000"/>
                </a:solidFill>
              </a:rPr>
              <a:t>    	    Technology Stack</a:t>
            </a:r>
            <a:br>
              <a:rPr lang="en-IN" sz="4000" dirty="0">
                <a:solidFill>
                  <a:srgbClr val="FF0000"/>
                </a:solidFill>
              </a:rPr>
            </a:br>
            <a:endParaRPr lang="en-IN" sz="4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76769B-EA67-F1E5-A5C1-A3553A24F6FB}"/>
              </a:ext>
            </a:extLst>
          </p:cNvPr>
          <p:cNvSpPr txBox="1"/>
          <p:nvPr/>
        </p:nvSpPr>
        <p:spPr>
          <a:xfrm>
            <a:off x="2777924" y="919323"/>
            <a:ext cx="7138066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React, TypeScript, Vite, CSS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Node.js, Express.js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Database</a:t>
            </a:r>
            <a:r>
              <a:rPr lang="en-IN" sz="2800" dirty="0"/>
              <a:t>: MongoDB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PDF Generation: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pdf-lib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Service: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Brevo (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Sendinblue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Nodemailer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Vercel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(Frontend), Render (Backend)</a:t>
            </a:r>
          </a:p>
        </p:txBody>
      </p:sp>
    </p:spTree>
    <p:extLst>
      <p:ext uri="{BB962C8B-B14F-4D97-AF65-F5344CB8AC3E}">
        <p14:creationId xmlns:p14="http://schemas.microsoft.com/office/powerpoint/2010/main" val="2416134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03E00-9A00-3B09-1A17-688609A42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466717"/>
            <a:ext cx="10972800" cy="887521"/>
          </a:xfrm>
        </p:spPr>
        <p:txBody>
          <a:bodyPr/>
          <a:lstStyle/>
          <a:p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		Front-End Development</a:t>
            </a:r>
            <a:b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B4795BB-67F6-9DD9-D858-6E3263CECC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894048" y="1296365"/>
            <a:ext cx="9078752" cy="5191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Secure login, manage company logo, GST details, and tax settings.</a:t>
            </a:r>
          </a:p>
          <a:p>
            <a:pPr marL="137160" indent="0" algn="just"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Dashboard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Enter receiver and order details using a structured form.</a:t>
            </a:r>
          </a:p>
          <a:p>
            <a:pPr marL="137160" indent="0" algn="just"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Invoice Creation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Add/remove items, automatic calculation of amount, tax, and total.</a:t>
            </a:r>
          </a:p>
          <a:p>
            <a:pPr algn="just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PDF &amp; Email Generation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Generate professional invoice PDF and send it to customer via email.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A7B8942-055F-0C70-A764-168481F78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7146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55AB3-9F33-4876-BF10-860184B0A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0"/>
            <a:ext cx="10112415" cy="788284"/>
          </a:xfrm>
        </p:spPr>
        <p:txBody>
          <a:bodyPr/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Core Tables in DBMS (MongoDB)</a:t>
            </a:r>
            <a:endParaRPr lang="en-IN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D9A36B-25AB-2EBF-1618-04123152D0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D00D56-1370-9783-D196-C33A73600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82" y="1226916"/>
            <a:ext cx="10686218" cy="5324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675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F1F68-793D-8502-9F7A-9998EC6B7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6619"/>
            <a:ext cx="10972800" cy="753560"/>
          </a:xfrm>
        </p:spPr>
        <p:txBody>
          <a:bodyPr/>
          <a:lstStyle/>
          <a:p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    Cloud Deployment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280B4A-655B-ACAC-5C1F-F5579253B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14" y="1414303"/>
            <a:ext cx="10972800" cy="4389437"/>
          </a:xfrm>
        </p:spPr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frontend is deployed on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Vercel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make the invoice system available online.</a:t>
            </a:r>
          </a:p>
          <a:p>
            <a:pPr marL="13716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backend runs on Render to handle invoice processing and PDF generation.</a:t>
            </a:r>
          </a:p>
          <a:p>
            <a:pPr marL="13716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 MongoDB Atlas to store customer and invoice data securely.</a:t>
            </a:r>
          </a:p>
          <a:p>
            <a:pPr marL="13716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 Brevo to send invoice PDFs to customers by email.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6129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7C5F1-5D3A-E1E7-D548-07DCCFBAB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438368"/>
            <a:ext cx="10972800" cy="1318044"/>
          </a:xfrm>
        </p:spPr>
        <p:txBody>
          <a:bodyPr/>
          <a:lstStyle/>
          <a:p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API References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6F85164-A4D7-DD6A-301A-3329E06FBA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338717" y="1326150"/>
            <a:ext cx="11027378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 /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/generate-pdf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Generates a Proforma Invoice PDF</a:t>
            </a:r>
          </a:p>
          <a:p>
            <a:pPr lvl="3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Includes company logo and UPI QR code</a:t>
            </a:r>
          </a:p>
          <a:p>
            <a:pPr lvl="3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download PDF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 /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/generate-and-email-pdf</a:t>
            </a:r>
          </a:p>
          <a:p>
            <a:pPr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Generates PDF and sends it via email</a:t>
            </a:r>
            <a:endParaRPr lang="en-US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Sends email using Brevo (</a:t>
            </a:r>
            <a:r>
              <a:rPr kumimoji="0" lang="en-US" altLang="en-US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Sendinblue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transactional email API</a:t>
            </a:r>
          </a:p>
          <a:p>
            <a:pPr lvl="3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Returns success/error message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5354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B7515-42ED-4BA9-B675-9567998F4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666" y="234876"/>
            <a:ext cx="10972800" cy="827680"/>
          </a:xfrm>
        </p:spPr>
        <p:txBody>
          <a:bodyPr/>
          <a:lstStyle/>
          <a:p>
            <a:br>
              <a:rPr lang="en-US" sz="40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0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0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0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0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		   USECASE DIAGRAM</a:t>
            </a:r>
            <a:endParaRPr lang="en-IN" sz="40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E5439E-B2BA-ED4E-5D29-8A7F87580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614" y="1194996"/>
            <a:ext cx="7558247" cy="5240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800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9F4F6-DD62-BBAE-1858-A6E1ECE22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682" y="281569"/>
            <a:ext cx="10370918" cy="1229598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r>
              <a:rPr lang="en-US" sz="40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 SCREENSHOTS</a:t>
            </a:r>
            <a:br>
              <a:rPr lang="en-US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71C091-7DB4-9E86-35FD-FE3A34EA3D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0541" y="1090212"/>
            <a:ext cx="10972800" cy="4389437"/>
          </a:xfrm>
        </p:spPr>
        <p:txBody>
          <a:bodyPr/>
          <a:lstStyle/>
          <a:p>
            <a:pPr marL="137160" indent="0">
              <a:buNone/>
            </a:pP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					Login page</a:t>
            </a:r>
          </a:p>
          <a:p>
            <a:pPr marL="137160" indent="0">
              <a:buNone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BDC6E0-FF4C-17B5-6BB4-9C540A691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9048" y="1692229"/>
            <a:ext cx="4206186" cy="5110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573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5F2EE-A526-5023-3A4B-8EA4C5287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556067"/>
            <a:ext cx="10972800" cy="637813"/>
          </a:xfrm>
        </p:spPr>
        <p:txBody>
          <a:bodyPr/>
          <a:lstStyle/>
          <a:p>
            <a:r>
              <a:rPr lang="en-IN" b="1" dirty="0"/>
              <a:t>		  </a:t>
            </a:r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Proforma Invoice Generator</a:t>
            </a:r>
            <a:br>
              <a:rPr lang="en-IN" b="1" dirty="0"/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5E877D-4B8C-94E8-2E75-B4965E085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310" y="760463"/>
            <a:ext cx="6850907" cy="575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612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01E827-AB90-FD4D-665B-F29372D761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886" y="120474"/>
            <a:ext cx="5330644" cy="6435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171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27EBB-91F6-313F-1CCD-5281EB474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28273"/>
            <a:ext cx="10972800" cy="850474"/>
          </a:xfrm>
        </p:spPr>
        <p:txBody>
          <a:bodyPr/>
          <a:lstStyle/>
          <a:p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 Receiver’s Email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64FF73-D3D6-3526-BC0F-C0B3D3CA9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4189" y="1178747"/>
            <a:ext cx="6475088" cy="5404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6940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EFEF3-9D55-FAEF-B10A-709DA4C2F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559" y="198215"/>
            <a:ext cx="10972800" cy="670368"/>
          </a:xfrm>
        </p:spPr>
        <p:txBody>
          <a:bodyPr/>
          <a:lstStyle/>
          <a:p>
            <a:r>
              <a:rPr lang="en-IN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Receiver’s PDF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502060-A850-A8DB-D54D-434C2BF93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313" y="1027425"/>
            <a:ext cx="6016697" cy="5736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3383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70374-D988-E579-EFDA-D72D1498A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CONCLUSION</a:t>
            </a:r>
            <a:br>
              <a:rPr lang="en-US" sz="40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IN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FE85D57-7500-9053-2F14-68FCA31386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84790" y="1966630"/>
            <a:ext cx="986268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automates proforma invoice generation, reducing manual work and errors.</a:t>
            </a:r>
          </a:p>
          <a:p>
            <a:pPr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Invoices are sent directly to the receiver’s email, ensuring fast and reliable communication.</a:t>
            </a:r>
          </a:p>
          <a:p>
            <a:pPr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payment feature improves the transaction process and enhances customer convenience.</a:t>
            </a:r>
          </a:p>
        </p:txBody>
      </p:sp>
    </p:spTree>
    <p:extLst>
      <p:ext uri="{BB962C8B-B14F-4D97-AF65-F5344CB8AC3E}">
        <p14:creationId xmlns:p14="http://schemas.microsoft.com/office/powerpoint/2010/main" val="24267510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79FBC-862E-160F-E3A8-594E8EF67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REFERENCES</a:t>
            </a:r>
            <a:br>
              <a:rPr lang="en-US" sz="28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2CB81-2215-B430-0717-8B41F6441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67695" y="1732103"/>
            <a:ext cx="8931797" cy="3940216"/>
          </a:xfrm>
        </p:spPr>
        <p:txBody>
          <a:bodyPr/>
          <a:lstStyle/>
          <a:p>
            <a:pPr algn="just"/>
            <a:r>
              <a: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hlinkClick r:id="rId2"/>
              </a:rPr>
              <a:t>https://nodejs.org/docs/latest/api/</a:t>
            </a:r>
            <a:endParaRPr lang="en-IN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137160" indent="0" algn="just">
              <a:buNone/>
            </a:pPr>
            <a:endParaRPr lang="en-IN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hlinkClick r:id="rId3"/>
              </a:rPr>
              <a:t>https://expressjs.com/</a:t>
            </a:r>
            <a:endParaRPr lang="en-IN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137160" indent="0" algn="just">
              <a:buNone/>
            </a:pPr>
            <a:endParaRPr lang="en-IN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hlinkClick r:id="rId4"/>
              </a:rPr>
              <a:t>https://pdf-lib.js.org/</a:t>
            </a:r>
            <a:endParaRPr lang="en-IN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137160" indent="0" algn="just">
              <a:buNone/>
            </a:pPr>
            <a:endParaRPr lang="en-IN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hlinkClick r:id="rId5"/>
              </a:rPr>
              <a:t>https://nodemailer.com/</a:t>
            </a:r>
            <a:endParaRPr lang="en-IN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hlinkClick r:id="rId6"/>
              </a:rPr>
              <a:t>https://www.mongodb.com/docs/</a:t>
            </a:r>
            <a:endParaRPr lang="en-IN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hlinkClick r:id="rId7"/>
              </a:rPr>
              <a:t>https://developers.brevo.com/docs/getting-started</a:t>
            </a:r>
            <a:endParaRPr lang="en-IN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0657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Google Shape;152;p22"/>
          <p:cNvSpPr txBox="1">
            <a:spLocks noGrp="1"/>
          </p:cNvSpPr>
          <p:nvPr>
            <p:ph type="title"/>
          </p:nvPr>
        </p:nvSpPr>
        <p:spPr>
          <a:xfrm>
            <a:off x="4916001" y="2008208"/>
            <a:ext cx="2776686" cy="1548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</TotalTime>
  <Words>555</Words>
  <Application>Microsoft Office PowerPoint</Application>
  <PresentationFormat>Widescreen</PresentationFormat>
  <Paragraphs>103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Noto Sans Symbols</vt:lpstr>
      <vt:lpstr>Times New Roman</vt:lpstr>
      <vt:lpstr>Wingdings</vt:lpstr>
      <vt:lpstr>Flow</vt:lpstr>
      <vt:lpstr>  Proforma Invoice Generator and Email Sending System</vt:lpstr>
      <vt:lpstr>PowerPoint Presentation</vt:lpstr>
      <vt:lpstr>   COMPANY DETAILS  </vt:lpstr>
      <vt:lpstr>         Technology Stack </vt:lpstr>
      <vt:lpstr>    Front-End Development </vt:lpstr>
      <vt:lpstr>  Core Tables in DBMS (MongoDB)</vt:lpstr>
      <vt:lpstr>       Cloud Deployment</vt:lpstr>
      <vt:lpstr>    API References</vt:lpstr>
      <vt:lpstr>           USECASE DIAGRAM</vt:lpstr>
      <vt:lpstr>   OUTPUT SCREENSHOTS </vt:lpstr>
      <vt:lpstr>    Proforma Invoice Generator </vt:lpstr>
      <vt:lpstr>PowerPoint Presentation</vt:lpstr>
      <vt:lpstr>    Receiver’s Email</vt:lpstr>
      <vt:lpstr>    Receiver’s PDF</vt:lpstr>
      <vt:lpstr>    CONCLUSION </vt:lpstr>
      <vt:lpstr>   REFERENCES 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kavinkumar M</dc:creator>
  <cp:lastModifiedBy>Kavin Kharthik</cp:lastModifiedBy>
  <cp:revision>31</cp:revision>
  <dcterms:created xsi:type="dcterms:W3CDTF">2021-04-21T04:36:00Z</dcterms:created>
  <dcterms:modified xsi:type="dcterms:W3CDTF">2026-03-03T16:07:22Z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6670674c939d4849b8e07ccb3644c843</vt:lpwstr>
  </property>
  <property fmtid="{D5CDD505-2E9C-101B-9397-08002B2CF9AE}" pid="3" name="KSOProductBuildVer">
    <vt:lpwstr>1033-11.2.0.11537</vt:lpwstr>
  </property>
</Properties>
</file>