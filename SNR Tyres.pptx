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9" r:id="rId4"/>
    <p:sldId id="258" r:id="rId5"/>
    <p:sldId id="260" r:id="rId6"/>
    <p:sldId id="294" r:id="rId7"/>
    <p:sldId id="316" r:id="rId8"/>
    <p:sldId id="261" r:id="rId9"/>
    <p:sldId id="317" r:id="rId10"/>
    <p:sldId id="262" r:id="rId11"/>
    <p:sldId id="314" r:id="rId12"/>
    <p:sldId id="315" r:id="rId13"/>
    <p:sldId id="266" r:id="rId14"/>
    <p:sldId id="295" r:id="rId15"/>
    <p:sldId id="305" r:id="rId16"/>
    <p:sldId id="304" r:id="rId17"/>
    <p:sldId id="303" r:id="rId18"/>
    <p:sldId id="302" r:id="rId19"/>
    <p:sldId id="301" r:id="rId20"/>
    <p:sldId id="300" r:id="rId21"/>
    <p:sldId id="299" r:id="rId22"/>
    <p:sldId id="298" r:id="rId23"/>
    <p:sldId id="290" r:id="rId24"/>
    <p:sldId id="291" r:id="rId25"/>
    <p:sldId id="293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1219" autoAdjust="0"/>
  </p:normalViewPr>
  <p:slideViewPr>
    <p:cSldViewPr>
      <p:cViewPr varScale="1">
        <p:scale>
          <a:sx n="75" d="100"/>
          <a:sy n="75" d="100"/>
        </p:scale>
        <p:origin x="826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92527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 March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1-59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20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483cfaeef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483cfaeeff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g2483cfaeeff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23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483cfaeef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483cfaeeff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2483cfaeeff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24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9" name="Google Shape;31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0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0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4038600" y="945415"/>
            <a:ext cx="7810500" cy="1322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US" sz="40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Tyres</a:t>
            </a: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sales and inventory website 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>
            <a:off x="-1193533" y="76200"/>
            <a:ext cx="375385" cy="859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>
                <a:solidFill>
                  <a:srgbClr val="B9077E"/>
                </a:solidFill>
              </a:rPr>
              <a:t>    </a:t>
            </a:r>
            <a:endParaRPr sz="3200"/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rgbClr val="000000"/>
                </a:solidFill>
              </a:rPr>
              <a:t>14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-May-24</a:t>
            </a: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4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7400" y="1447800"/>
            <a:ext cx="13747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 descr="kec2blackborder p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5400" y="4419600"/>
            <a:ext cx="1479550" cy="18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/>
          <p:nvPr/>
        </p:nvSpPr>
        <p:spPr>
          <a:xfrm>
            <a:off x="4724400" y="2873809"/>
            <a:ext cx="6134100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800" b="1" kern="1200" dirty="0">
                <a:solidFill>
                  <a:srgbClr val="0F6FC6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PROJECT MEMBERS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KAMALESH M  - 23ITR026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1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KARTHIK R  - 23ITR080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1200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	       (19ITR014)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1200" dirty="0">
                <a:solidFill>
                  <a:srgbClr val="0F6FC6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PROJECT GUIDE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dirty="0">
                <a:solidFill>
                  <a:srgbClr val="0F6FC6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8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Dr.T.ABIRAMI</a:t>
            </a:r>
            <a:endParaRPr lang="en-US" sz="18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Associate Professor/Department of IT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8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Kongu</a:t>
            </a:r>
            <a:r>
              <a:rPr lang="en-US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body" idx="4294967295"/>
          </p:nvPr>
        </p:nvSpPr>
        <p:spPr>
          <a:xfrm>
            <a:off x="2221786" y="1371600"/>
            <a:ext cx="9196227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Company Name : </a:t>
            </a:r>
          </a:p>
          <a:p>
            <a:pPr>
              <a:buNone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ARM Steel Agency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Owner :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latin typeface="Times New Roman" panose="02020603050405020304" pitchFamily="18" charset="0"/>
                <a:cs typeface="Times New Roman" pitchFamily="18" charset="0"/>
              </a:rPr>
              <a:t>Jegadeesan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 P</a:t>
            </a:r>
            <a:endParaRPr lang="en-IN" sz="22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Address :</a:t>
            </a:r>
          </a:p>
          <a:p>
            <a:pPr>
              <a:buNone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146/2, Palani Main Road, </a:t>
            </a:r>
            <a:r>
              <a:rPr lang="en-IN" sz="2400" dirty="0" err="1">
                <a:latin typeface="Times New Roman" panose="02020603050405020304" pitchFamily="18" charset="0"/>
                <a:cs typeface="Times New Roman" pitchFamily="18" charset="0"/>
              </a:rPr>
              <a:t>Madathukulam</a:t>
            </a: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, 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          </a:t>
            </a:r>
            <a:r>
              <a:rPr lang="en-IN" sz="2400" dirty="0" err="1">
                <a:latin typeface="Times New Roman" panose="02020603050405020304" pitchFamily="18" charset="0"/>
                <a:cs typeface="Times New Roman" pitchFamily="18" charset="0"/>
              </a:rPr>
              <a:t>Tiruppur</a:t>
            </a:r>
            <a:r>
              <a:rPr lang="en-IN" sz="2400" dirty="0">
                <a:latin typeface="Times New Roman" panose="02020603050405020304" pitchFamily="18" charset="0"/>
                <a:cs typeface="Times New Roman" pitchFamily="18" charset="0"/>
              </a:rPr>
              <a:t> dt - 642113</a:t>
            </a:r>
          </a:p>
          <a:p>
            <a:pPr>
              <a:buNone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Contact : </a:t>
            </a:r>
          </a:p>
          <a:p>
            <a:pPr>
              <a:buNone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		Phone no: 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+91 9865754505, +91 9443810807</a:t>
            </a:r>
            <a:endParaRPr lang="en-IN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itchFamily="18" charset="0"/>
              </a:rPr>
              <a:t>		Email:</a:t>
            </a:r>
            <a:r>
              <a:rPr lang="fr-FR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www.jagathisanp@gmail.com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3048000" y="457200"/>
            <a:ext cx="7165976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4000"/>
            </a:pPr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COMPANY DETAILS</a:t>
            </a:r>
            <a:b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5"/>
          <p:cNvSpPr/>
          <p:nvPr/>
        </p:nvSpPr>
        <p:spPr>
          <a:xfrm rot="-1755015">
            <a:off x="1001992" y="396368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2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body" idx="4294967295"/>
          </p:nvPr>
        </p:nvSpPr>
        <p:spPr>
          <a:xfrm>
            <a:off x="1668170" y="1728561"/>
            <a:ext cx="9304630" cy="4291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indent="0" algn="just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0" indent="0" algn="just">
              <a:buNone/>
            </a:pPr>
            <a:r>
              <a:rPr lang="en-US" sz="2800" dirty="0"/>
              <a:t> 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 and responsive mobile app that allows users to browse steel products, place orders, make online payments, manage inventory in real time, and access features based on their roles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8" name="Google Shape;118;p17"/>
          <p:cNvSpPr/>
          <p:nvPr/>
        </p:nvSpPr>
        <p:spPr>
          <a:xfrm>
            <a:off x="4495800" y="533400"/>
            <a:ext cx="35814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7"/>
          <p:cNvSpPr/>
          <p:nvPr/>
        </p:nvSpPr>
        <p:spPr>
          <a:xfrm rot="-1755015">
            <a:off x="1001991" y="396369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3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body" idx="4294967295"/>
          </p:nvPr>
        </p:nvSpPr>
        <p:spPr>
          <a:xfrm>
            <a:off x="1447800" y="1317486"/>
            <a:ext cx="9677400" cy="490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indent="0"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127000" indent="0"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 develop a digital platform for customers to browse/purchase steel products online, relying on manual orders and in-person sales.</a:t>
            </a:r>
          </a:p>
          <a:p>
            <a:pPr marL="127000" indent="0"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Develop a cross-platform e-commerce application to: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Digitize sales and inventory management.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reach and provide 24/7 accessibility.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 payments using secure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integration.</a:t>
            </a:r>
          </a:p>
          <a:p>
            <a:pPr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2514600" y="609600"/>
            <a:ext cx="86106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 OF THE PROJECT</a:t>
            </a: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6"/>
          <p:cNvSpPr/>
          <p:nvPr/>
        </p:nvSpPr>
        <p:spPr>
          <a:xfrm rot="-1755015">
            <a:off x="1001992" y="396369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4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body" idx="4294967295"/>
          </p:nvPr>
        </p:nvSpPr>
        <p:spPr>
          <a:xfrm>
            <a:off x="1600200" y="1371600"/>
            <a:ext cx="9679004" cy="494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HARDWARE REQUIREMENTS</a:t>
            </a:r>
            <a:endParaRPr lang="en-US" sz="1800" dirty="0">
              <a:solidFill>
                <a:srgbClr val="A5002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Processor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Intel Pentium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Processor Speed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250MHz to 667MHz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RAM	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8GB RAM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Hard Disk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512GB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Keyboard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Standard 104 enhanced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Mouse	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Local PS/2	</a:t>
            </a:r>
          </a:p>
          <a:p>
            <a:pPr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SOFTWARE REQUIREMENTS</a:t>
            </a:r>
            <a:endParaRPr lang="en-US" sz="1800" dirty="0">
              <a:solidFill>
                <a:srgbClr val="A5002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Platform	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Visual Studio Code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Server-side Script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JavaScript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Cloud-based platform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MongoDB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Framework		:	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React-Native</a:t>
            </a:r>
          </a:p>
          <a:p>
            <a:pPr>
              <a:buNone/>
            </a:pPr>
            <a:endParaRPr lang="en-IN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2133600" y="533401"/>
            <a:ext cx="905796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4000"/>
            </a:pPr>
            <a:r>
              <a:rPr lang="en-US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OF THE PROJECT</a:t>
            </a:r>
            <a:endParaRPr lang="en-US" sz="36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8"/>
          <p:cNvSpPr/>
          <p:nvPr/>
        </p:nvSpPr>
        <p:spPr>
          <a:xfrm rot="-1755015">
            <a:off x="1001993" y="396369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5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body" idx="4294967295"/>
          </p:nvPr>
        </p:nvSpPr>
        <p:spPr>
          <a:xfrm>
            <a:off x="1668172" y="1532990"/>
            <a:ext cx="9679004" cy="425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React Native, JavaScript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MongoDB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Expo CLI, Visual Studio Code, Git, Postman (for API testing)</a:t>
            </a:r>
          </a:p>
          <a:p>
            <a:pPr>
              <a:buNone/>
            </a:pPr>
            <a:endParaRPr lang="en-IN" sz="26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2133600" y="533400"/>
            <a:ext cx="9057968" cy="9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4000"/>
            </a:pPr>
            <a:r>
              <a:rPr lang="en-US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</a:t>
            </a:r>
            <a:endParaRPr lang="en-US" sz="36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8"/>
          <p:cNvSpPr/>
          <p:nvPr/>
        </p:nvSpPr>
        <p:spPr>
          <a:xfrm rot="-1755015">
            <a:off x="1001993" y="396369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6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828800" y="1600200"/>
            <a:ext cx="3505200" cy="3937000"/>
          </a:xfrm>
          <a:prstGeom prst="roundRect">
            <a:avLst/>
          </a:prstGeom>
          <a:solidFill>
            <a:schemeClr val="accent6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7315199" y="1621971"/>
            <a:ext cx="3505200" cy="3937000"/>
          </a:xfrm>
          <a:prstGeom prst="roundRect">
            <a:avLst/>
          </a:prstGeom>
          <a:solidFill>
            <a:schemeClr val="accent6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8" name="Google Shape;138;p19"/>
          <p:cNvSpPr/>
          <p:nvPr/>
        </p:nvSpPr>
        <p:spPr>
          <a:xfrm>
            <a:off x="3363686" y="457200"/>
            <a:ext cx="62484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OF MODULES</a:t>
            </a: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9"/>
          <p:cNvSpPr/>
          <p:nvPr/>
        </p:nvSpPr>
        <p:spPr>
          <a:xfrm rot="-1755015">
            <a:off x="1001993" y="396369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7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06D1DE-885F-9962-90A6-56EE9A675A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676400" y="1826235"/>
            <a:ext cx="3810000" cy="2410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kumimoji="0" lang="en-US" altLang="en-US" sz="2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endParaRPr lang="en-US" altLang="en-US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200" indent="-457200">
              <a:lnSpc>
                <a:spcPct val="150000"/>
              </a:lnSpc>
              <a:buAutoNum type="arabicPeriod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 </a:t>
            </a:r>
          </a:p>
          <a:p>
            <a:pPr marL="584200" indent="-457200">
              <a:lnSpc>
                <a:spcPct val="150000"/>
              </a:lnSpc>
              <a:buAutoNum type="arabicPeriod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</a:t>
            </a:r>
          </a:p>
          <a:p>
            <a:pPr marL="584200" indent="-457200">
              <a:buAutoNum type="arabicPeriod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431313" y="1959429"/>
            <a:ext cx="3272971" cy="3339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Wishlist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Management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Management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 Management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90342" y="1625600"/>
            <a:ext cx="76200" cy="4191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411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3657600" y="457200"/>
            <a:ext cx="62484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DESCRIPTION</a:t>
            </a: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9"/>
          <p:cNvSpPr/>
          <p:nvPr/>
        </p:nvSpPr>
        <p:spPr>
          <a:xfrm rot="-1755015">
            <a:off x="1001993" y="396369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8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06D1DE-885F-9962-90A6-56EE9A675A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676400" y="1316266"/>
            <a:ext cx="9448800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MODULE</a:t>
            </a:r>
          </a:p>
          <a:p>
            <a:pPr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1. User Authentication</a:t>
            </a:r>
            <a:b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 • Provides secure login and registration for users.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 • Supports role identification for both customers and admins.</a:t>
            </a:r>
          </a:p>
          <a:p>
            <a:pPr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2. Product Management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 • Allows admin to add, edit, and delete steel products.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 • Includes fields like category, description, price, and stock quantity.</a:t>
            </a:r>
          </a:p>
          <a:p>
            <a:pPr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3. Order Management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 • Enables customers to browse products and add items to the cart.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 • Allows order placement and real-time order tracking.</a:t>
            </a:r>
          </a:p>
          <a:p>
            <a:pPr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4. Payment Integration</a:t>
            </a:r>
            <a:b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 • Integrates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for secure and reliable payments.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 • Captures and tracks transaction details.</a:t>
            </a:r>
          </a:p>
          <a:p>
            <a:pPr marL="127000" indent="0"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3657600" y="457200"/>
            <a:ext cx="62484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DESCRIPTION</a:t>
            </a:r>
            <a:endParaRPr lang="en-US"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9"/>
          <p:cNvSpPr/>
          <p:nvPr/>
        </p:nvSpPr>
        <p:spPr>
          <a:xfrm rot="-1755015">
            <a:off x="1001993" y="396369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9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06D1DE-885F-9962-90A6-56EE9A675A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295400" y="1062633"/>
            <a:ext cx="9609428" cy="321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ADMIN MODULE</a:t>
            </a:r>
          </a:p>
          <a:p>
            <a:pPr marL="12700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Admin Dashboard </a:t>
            </a:r>
          </a:p>
          <a:p>
            <a:pPr lvl="3">
              <a:buSzPct val="1050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total orders, payment statistics, and inventory data.</a:t>
            </a:r>
          </a:p>
          <a:p>
            <a:pPr lvl="3">
              <a:buSzPct val="1050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mobile-friendly interface for easy monitoring.</a:t>
            </a:r>
            <a:endParaRPr 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2. Product Management </a:t>
            </a:r>
          </a:p>
          <a:p>
            <a:pPr lvl="3">
              <a:buSzPct val="1050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to add, edit, and delete steel products.</a:t>
            </a:r>
          </a:p>
          <a:p>
            <a:pPr lvl="3">
              <a:buSzPct val="1050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fields like category, description, price, and stock quantity.</a:t>
            </a:r>
          </a:p>
        </p:txBody>
      </p:sp>
    </p:spTree>
    <p:extLst>
      <p:ext uri="{BB962C8B-B14F-4D97-AF65-F5344CB8AC3E}">
        <p14:creationId xmlns:p14="http://schemas.microsoft.com/office/powerpoint/2010/main" val="390876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6;p20"/>
          <p:cNvSpPr txBox="1"/>
          <p:nvPr/>
        </p:nvSpPr>
        <p:spPr>
          <a:xfrm>
            <a:off x="990600" y="762000"/>
            <a:ext cx="292509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4000"/>
            </a:pPr>
            <a:r>
              <a:rPr lang="en-US" sz="28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 DIAGRAM</a:t>
            </a:r>
            <a:endParaRPr lang="en-US" sz="36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Flowchart: Process 6"/>
          <p:cNvSpPr/>
          <p:nvPr/>
        </p:nvSpPr>
        <p:spPr>
          <a:xfrm>
            <a:off x="5353489" y="381000"/>
            <a:ext cx="4114800" cy="5943600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944289" y="2514600"/>
            <a:ext cx="1295400" cy="381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 Products</a:t>
            </a:r>
          </a:p>
        </p:txBody>
      </p:sp>
      <p:sp>
        <p:nvSpPr>
          <p:cNvPr id="20" name="Oval 19"/>
          <p:cNvSpPr/>
          <p:nvPr/>
        </p:nvSpPr>
        <p:spPr>
          <a:xfrm>
            <a:off x="7944289" y="3048000"/>
            <a:ext cx="1295400" cy="381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Delete Products</a:t>
            </a:r>
          </a:p>
        </p:txBody>
      </p:sp>
      <p:sp>
        <p:nvSpPr>
          <p:cNvPr id="21" name="Oval 20"/>
          <p:cNvSpPr/>
          <p:nvPr/>
        </p:nvSpPr>
        <p:spPr>
          <a:xfrm>
            <a:off x="7944289" y="3581400"/>
            <a:ext cx="1295400" cy="381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Update Products</a:t>
            </a:r>
          </a:p>
        </p:txBody>
      </p:sp>
      <p:sp>
        <p:nvSpPr>
          <p:cNvPr id="22" name="Oval 21"/>
          <p:cNvSpPr/>
          <p:nvPr/>
        </p:nvSpPr>
        <p:spPr>
          <a:xfrm>
            <a:off x="7944289" y="4114800"/>
            <a:ext cx="1295400" cy="381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Manage Accounts</a:t>
            </a:r>
          </a:p>
        </p:txBody>
      </p:sp>
      <p:sp>
        <p:nvSpPr>
          <p:cNvPr id="23" name="Oval 22"/>
          <p:cNvSpPr/>
          <p:nvPr/>
        </p:nvSpPr>
        <p:spPr>
          <a:xfrm>
            <a:off x="7944289" y="4648200"/>
            <a:ext cx="1295400" cy="381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Delete accounts</a:t>
            </a:r>
          </a:p>
        </p:txBody>
      </p:sp>
      <p:sp>
        <p:nvSpPr>
          <p:cNvPr id="24" name="Oval 23"/>
          <p:cNvSpPr/>
          <p:nvPr/>
        </p:nvSpPr>
        <p:spPr>
          <a:xfrm>
            <a:off x="6725089" y="1676400"/>
            <a:ext cx="1295400" cy="381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Search Products</a:t>
            </a:r>
          </a:p>
        </p:txBody>
      </p:sp>
      <p:sp>
        <p:nvSpPr>
          <p:cNvPr id="25" name="Oval 24"/>
          <p:cNvSpPr/>
          <p:nvPr/>
        </p:nvSpPr>
        <p:spPr>
          <a:xfrm>
            <a:off x="5810689" y="3124200"/>
            <a:ext cx="1295400" cy="381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 to cart</a:t>
            </a:r>
          </a:p>
        </p:txBody>
      </p:sp>
      <p:sp>
        <p:nvSpPr>
          <p:cNvPr id="26" name="Oval 25"/>
          <p:cNvSpPr/>
          <p:nvPr/>
        </p:nvSpPr>
        <p:spPr>
          <a:xfrm>
            <a:off x="5886889" y="3810000"/>
            <a:ext cx="1295400" cy="381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Checkout</a:t>
            </a:r>
          </a:p>
        </p:txBody>
      </p:sp>
      <p:sp>
        <p:nvSpPr>
          <p:cNvPr id="27" name="Oval 26"/>
          <p:cNvSpPr/>
          <p:nvPr/>
        </p:nvSpPr>
        <p:spPr>
          <a:xfrm>
            <a:off x="6877489" y="5638800"/>
            <a:ext cx="1295400" cy="381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Logout</a:t>
            </a:r>
          </a:p>
        </p:txBody>
      </p:sp>
      <p:sp>
        <p:nvSpPr>
          <p:cNvPr id="28" name="Oval 27"/>
          <p:cNvSpPr/>
          <p:nvPr/>
        </p:nvSpPr>
        <p:spPr>
          <a:xfrm>
            <a:off x="5886889" y="4648200"/>
            <a:ext cx="1295400" cy="381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Payment</a:t>
            </a:r>
          </a:p>
        </p:txBody>
      </p:sp>
      <p:sp>
        <p:nvSpPr>
          <p:cNvPr id="29" name="Oval 28"/>
          <p:cNvSpPr/>
          <p:nvPr/>
        </p:nvSpPr>
        <p:spPr>
          <a:xfrm>
            <a:off x="5582089" y="609600"/>
            <a:ext cx="1295400" cy="381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SignUp</a:t>
            </a:r>
            <a:endParaRPr lang="en-US" sz="1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801289" y="1066800"/>
            <a:ext cx="1295400" cy="381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Login</a:t>
            </a:r>
          </a:p>
        </p:txBody>
      </p:sp>
      <p:sp>
        <p:nvSpPr>
          <p:cNvPr id="31" name="Oval 30"/>
          <p:cNvSpPr/>
          <p:nvPr/>
        </p:nvSpPr>
        <p:spPr>
          <a:xfrm>
            <a:off x="4362889" y="1295400"/>
            <a:ext cx="2286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/>
          <p:cNvCxnSpPr>
            <a:stCxn id="31" idx="4"/>
          </p:cNvCxnSpPr>
          <p:nvPr/>
        </p:nvCxnSpPr>
        <p:spPr>
          <a:xfrm>
            <a:off x="4477189" y="1676400"/>
            <a:ext cx="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1" idx="4"/>
          </p:cNvCxnSpPr>
          <p:nvPr/>
        </p:nvCxnSpPr>
        <p:spPr>
          <a:xfrm>
            <a:off x="4477189" y="1676400"/>
            <a:ext cx="1905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4286689" y="1676400"/>
            <a:ext cx="1905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>
            <a:off x="4286689" y="2133600"/>
            <a:ext cx="1905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477189" y="2133600"/>
            <a:ext cx="1905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4210489" y="3962400"/>
            <a:ext cx="2286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/>
          <p:cNvCxnSpPr>
            <a:stCxn id="77" idx="4"/>
          </p:cNvCxnSpPr>
          <p:nvPr/>
        </p:nvCxnSpPr>
        <p:spPr>
          <a:xfrm>
            <a:off x="4324789" y="4343400"/>
            <a:ext cx="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77" idx="4"/>
          </p:cNvCxnSpPr>
          <p:nvPr/>
        </p:nvCxnSpPr>
        <p:spPr>
          <a:xfrm>
            <a:off x="4324789" y="4343400"/>
            <a:ext cx="3429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77" idx="4"/>
          </p:cNvCxnSpPr>
          <p:nvPr/>
        </p:nvCxnSpPr>
        <p:spPr>
          <a:xfrm flipH="1">
            <a:off x="4134289" y="4343400"/>
            <a:ext cx="1905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H="1">
            <a:off x="4134289" y="4800600"/>
            <a:ext cx="1905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324789" y="4800600"/>
            <a:ext cx="1905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10306489" y="2971800"/>
            <a:ext cx="2286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Connector 83"/>
          <p:cNvCxnSpPr>
            <a:stCxn id="83" idx="4"/>
          </p:cNvCxnSpPr>
          <p:nvPr/>
        </p:nvCxnSpPr>
        <p:spPr>
          <a:xfrm>
            <a:off x="10420789" y="3352800"/>
            <a:ext cx="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83" idx="4"/>
          </p:cNvCxnSpPr>
          <p:nvPr/>
        </p:nvCxnSpPr>
        <p:spPr>
          <a:xfrm>
            <a:off x="10420789" y="3352800"/>
            <a:ext cx="1905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83" idx="4"/>
          </p:cNvCxnSpPr>
          <p:nvPr/>
        </p:nvCxnSpPr>
        <p:spPr>
          <a:xfrm flipH="1">
            <a:off x="10230289" y="3352800"/>
            <a:ext cx="1905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10230289" y="3657600"/>
            <a:ext cx="1905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10420789" y="3657600"/>
            <a:ext cx="1905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endCxn id="29" idx="2"/>
          </p:cNvCxnSpPr>
          <p:nvPr/>
        </p:nvCxnSpPr>
        <p:spPr>
          <a:xfrm flipV="1">
            <a:off x="4743889" y="800100"/>
            <a:ext cx="838200" cy="10287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4743889" y="1828800"/>
            <a:ext cx="1981200" cy="76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77" idx="7"/>
            <a:endCxn id="30" idx="2"/>
          </p:cNvCxnSpPr>
          <p:nvPr/>
        </p:nvCxnSpPr>
        <p:spPr>
          <a:xfrm flipV="1">
            <a:off x="4405611" y="1257300"/>
            <a:ext cx="2395678" cy="27608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flipV="1">
            <a:off x="4667689" y="3352800"/>
            <a:ext cx="114300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endCxn id="26" idx="2"/>
          </p:cNvCxnSpPr>
          <p:nvPr/>
        </p:nvCxnSpPr>
        <p:spPr>
          <a:xfrm flipV="1">
            <a:off x="4667689" y="4000500"/>
            <a:ext cx="1219200" cy="419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4667689" y="4419600"/>
            <a:ext cx="114300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endCxn id="27" idx="2"/>
          </p:cNvCxnSpPr>
          <p:nvPr/>
        </p:nvCxnSpPr>
        <p:spPr>
          <a:xfrm>
            <a:off x="4667689" y="4419600"/>
            <a:ext cx="2209800" cy="1409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>
            <a:stCxn id="77" idx="7"/>
          </p:cNvCxnSpPr>
          <p:nvPr/>
        </p:nvCxnSpPr>
        <p:spPr>
          <a:xfrm flipV="1">
            <a:off x="4405611" y="1905000"/>
            <a:ext cx="2319478" cy="21131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4058089" y="2362200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New user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00889" y="5181600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Existing User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77889" y="3886200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Admin</a:t>
            </a:r>
          </a:p>
        </p:txBody>
      </p:sp>
      <p:cxnSp>
        <p:nvCxnSpPr>
          <p:cNvPr id="123" name="Straight Connector 122"/>
          <p:cNvCxnSpPr>
            <a:stCxn id="30" idx="6"/>
            <a:endCxn id="83" idx="0"/>
          </p:cNvCxnSpPr>
          <p:nvPr/>
        </p:nvCxnSpPr>
        <p:spPr>
          <a:xfrm>
            <a:off x="8096689" y="1257300"/>
            <a:ext cx="2324100" cy="1714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9" idx="6"/>
          </p:cNvCxnSpPr>
          <p:nvPr/>
        </p:nvCxnSpPr>
        <p:spPr>
          <a:xfrm>
            <a:off x="9239689" y="2705100"/>
            <a:ext cx="914400" cy="800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>
            <a:stCxn id="23" idx="6"/>
          </p:cNvCxnSpPr>
          <p:nvPr/>
        </p:nvCxnSpPr>
        <p:spPr>
          <a:xfrm flipV="1">
            <a:off x="9239689" y="3505200"/>
            <a:ext cx="914400" cy="1333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>
            <a:stCxn id="22" idx="6"/>
          </p:cNvCxnSpPr>
          <p:nvPr/>
        </p:nvCxnSpPr>
        <p:spPr>
          <a:xfrm flipV="1">
            <a:off x="9239689" y="3505200"/>
            <a:ext cx="914400" cy="800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stCxn id="21" idx="6"/>
          </p:cNvCxnSpPr>
          <p:nvPr/>
        </p:nvCxnSpPr>
        <p:spPr>
          <a:xfrm flipV="1">
            <a:off x="9239689" y="3505200"/>
            <a:ext cx="914400" cy="266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stCxn id="20" idx="6"/>
          </p:cNvCxnSpPr>
          <p:nvPr/>
        </p:nvCxnSpPr>
        <p:spPr>
          <a:xfrm>
            <a:off x="9239689" y="3238500"/>
            <a:ext cx="914400" cy="266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>
            <a:stCxn id="24" idx="6"/>
            <a:endCxn id="83" idx="0"/>
          </p:cNvCxnSpPr>
          <p:nvPr/>
        </p:nvCxnSpPr>
        <p:spPr>
          <a:xfrm>
            <a:off x="8020489" y="1866900"/>
            <a:ext cx="2400300" cy="1104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27" idx="6"/>
            <a:endCxn id="121" idx="2"/>
          </p:cNvCxnSpPr>
          <p:nvPr/>
        </p:nvCxnSpPr>
        <p:spPr>
          <a:xfrm flipV="1">
            <a:off x="8172889" y="4193977"/>
            <a:ext cx="2276256" cy="16353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6;p20"/>
          <p:cNvSpPr txBox="1"/>
          <p:nvPr/>
        </p:nvSpPr>
        <p:spPr>
          <a:xfrm>
            <a:off x="609600" y="762000"/>
            <a:ext cx="345849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4000"/>
            </a:pPr>
            <a:r>
              <a:rPr lang="en-US" sz="28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DIAGRAM</a:t>
            </a:r>
            <a:endParaRPr lang="en-US" sz="36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" name="Image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33800" y="152400"/>
            <a:ext cx="78486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6;p20"/>
          <p:cNvSpPr txBox="1"/>
          <p:nvPr/>
        </p:nvSpPr>
        <p:spPr>
          <a:xfrm>
            <a:off x="990600" y="762000"/>
            <a:ext cx="292509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4000"/>
            </a:pP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DIAGRAM</a:t>
            </a:r>
            <a:endParaRPr lang="en-US" sz="36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" name="Picture 52" descr="C:\Users\DELL\Downloads\ACTIVITY DIAGRAM.jpg"/>
          <p:cNvPicPr/>
          <p:nvPr/>
        </p:nvPicPr>
        <p:blipFill>
          <a:blip r:embed="rId3" cstate="print"/>
          <a:srcRect l="9340" t="45288" r="23066" b="6145"/>
          <a:stretch>
            <a:fillRect/>
          </a:stretch>
        </p:blipFill>
        <p:spPr bwMode="auto">
          <a:xfrm>
            <a:off x="4038600" y="0"/>
            <a:ext cx="7620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/>
        </p:nvSpPr>
        <p:spPr>
          <a:xfrm>
            <a:off x="3429000" y="184652"/>
            <a:ext cx="4900575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SCREENSHOTS</a:t>
            </a:r>
            <a:endParaRPr sz="30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92775" y="809202"/>
            <a:ext cx="20489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Login &amp; Signup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07FC71-4377-F8F5-CAF8-5C2322AAC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402935"/>
            <a:ext cx="2213610" cy="4919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4C51C-D726-F3D0-C096-3F56AAC32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302" y="1402935"/>
            <a:ext cx="2204635" cy="48991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ECD4F0-CDBF-2F4B-018E-ADF5439768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371" y="1402935"/>
            <a:ext cx="2204635" cy="48991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61634" y="228600"/>
            <a:ext cx="3329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Home Page – Best Selling Products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F01FE-F43F-87B7-7A4A-0CA248823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138" y="990600"/>
            <a:ext cx="2411375" cy="53586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B95919-6B29-5A14-D05D-C9CD37C43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90601"/>
            <a:ext cx="2411375" cy="53586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285410" y="343017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Wishlist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72CE60-A15E-2C7F-9A9E-619E60A54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93" y="1066800"/>
            <a:ext cx="219456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26743" y="423446"/>
            <a:ext cx="12410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Profile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F517C-C938-12BC-3690-F6CA8125F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044" y="1143000"/>
            <a:ext cx="229743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0" y="381000"/>
            <a:ext cx="10679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Cart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0689E5-A1C3-5397-EB15-61E96757C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224" y="1066800"/>
            <a:ext cx="2271471" cy="50477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24400" y="304800"/>
            <a:ext cx="1665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Checkout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703A7-85C5-C075-1554-1BF57B509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230" y="1072376"/>
            <a:ext cx="2160270" cy="4800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7DD3DE-65EC-D37A-2300-4C11D97A7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312" y="1066800"/>
            <a:ext cx="216027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73486" y="533400"/>
            <a:ext cx="157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Payment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89D03B-BD24-FDF0-17E4-63B8A2EDF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1102274"/>
            <a:ext cx="2133600" cy="4741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62FBCC-6F1E-577D-8F58-AD811B0D2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102271"/>
            <a:ext cx="2133601" cy="47413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19675" y="381000"/>
            <a:ext cx="2608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Payment successful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17C0EC-8C77-CF5F-AB5C-DD091AD11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048132"/>
            <a:ext cx="2194560" cy="4876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F7AB39-D888-E833-EB9A-ED09B8F0E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878" y="990600"/>
            <a:ext cx="219456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996442" y="457200"/>
            <a:ext cx="2653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algn="l" rtl="0"/>
            <a:r>
              <a:rPr lang="en-US" sz="1800" b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Steels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- based on category</a:t>
            </a:r>
            <a:endParaRPr lang="en-IN" sz="240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76EA59-73AE-ECFF-A522-1E3DF2657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975" y="1143000"/>
            <a:ext cx="2194560" cy="487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B3568D-CE83-F407-0987-004C1AEA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1066800"/>
            <a:ext cx="2228850" cy="495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1D7188-A0B9-5437-0BBC-D95E31769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662" y="1066800"/>
            <a:ext cx="222885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946984" y="304800"/>
            <a:ext cx="2755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Wishlist added items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A9672-4922-D2EB-74E0-13783877F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005418"/>
            <a:ext cx="2146935" cy="47709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8D9DEA-83AC-F8FD-AFBD-A813B39A1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1035048"/>
            <a:ext cx="2133601" cy="474133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/>
        </p:nvSpPr>
        <p:spPr>
          <a:xfrm>
            <a:off x="3742225" y="529875"/>
            <a:ext cx="49125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48"/>
          <p:cNvSpPr txBox="1"/>
          <p:nvPr/>
        </p:nvSpPr>
        <p:spPr>
          <a:xfrm>
            <a:off x="1207374" y="1447800"/>
            <a:ext cx="10527425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Steel Agency e-Commerce App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 seamless, secure, and scalable platform for steel product sales.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7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key operations:</a:t>
            </a:r>
          </a:p>
          <a:p>
            <a:pPr lvl="7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7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</a:t>
            </a:r>
          </a:p>
          <a:p>
            <a:pPr marL="342900" lvl="7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processing</a:t>
            </a:r>
          </a:p>
          <a:p>
            <a:pPr marL="342900" lvl="7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tracking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customer satisfaction through mobile accessibility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Boosts business productivity by digitizing core processes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 txBox="1"/>
          <p:nvPr/>
        </p:nvSpPr>
        <p:spPr>
          <a:xfrm>
            <a:off x="4114800" y="0"/>
            <a:ext cx="48849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0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49"/>
          <p:cNvSpPr txBox="1"/>
          <p:nvPr/>
        </p:nvSpPr>
        <p:spPr>
          <a:xfrm>
            <a:off x="1752600" y="762000"/>
            <a:ext cx="9829800" cy="418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8000" indent="-288000"/>
            <a:r>
              <a:rPr lang="en-US" sz="2000" b="1" dirty="0">
                <a:solidFill>
                  <a:schemeClr val="tx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</a:rPr>
              <a:t>Online Resources:</a:t>
            </a:r>
          </a:p>
          <a:p>
            <a:pPr marL="288000" lvl="0" indent="-288000"/>
            <a:endParaRPr lang="en-US" sz="18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8000" lvl="0" indent="-288000">
              <a:buFont typeface="+mj-lt"/>
              <a:buAutoNum type="arabicPeriod"/>
            </a:pPr>
            <a:r>
              <a:rPr lang="en-US" sz="1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https://legacy.reactjs.org/docs/getting-started.html</a:t>
            </a:r>
          </a:p>
          <a:p>
            <a:pPr marL="288000" lvl="0" indent="-288000">
              <a:buFont typeface="+mj-lt"/>
              <a:buAutoNum type="arabicPeriod"/>
            </a:pPr>
            <a:endParaRPr lang="en-US" sz="1800" u="sng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8000" lvl="0" indent="-288000">
              <a:buFont typeface="+mj-lt"/>
              <a:buAutoNum type="arabicPeriod"/>
            </a:pPr>
            <a:r>
              <a:rPr lang="en-US" sz="1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https://www.youtube.com/watch?v=kmU7uX3ZHJc</a:t>
            </a:r>
          </a:p>
          <a:p>
            <a:pPr marL="288000" lvl="0" indent="-288000">
              <a:buFont typeface="+mj-lt"/>
              <a:buAutoNum type="arabicPeriod"/>
            </a:pPr>
            <a:endParaRPr lang="en-US" sz="1800" dirty="0">
              <a:solidFill>
                <a:schemeClr val="tx1"/>
              </a:solidFill>
              <a:uFill>
                <a:noFill/>
              </a:u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8000" lvl="0" indent="-288000">
              <a:buFont typeface="+mj-lt"/>
              <a:buAutoNum type="arabicPeriod"/>
            </a:pPr>
            <a:r>
              <a:rPr lang="en-US" sz="1800" dirty="0">
                <a:solidFill>
                  <a:srgbClr val="00206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</a:rPr>
              <a:t>https://nodejs.org/en/docs/</a:t>
            </a:r>
          </a:p>
          <a:p>
            <a:pPr marL="288000" lvl="0" indent="-288000">
              <a:buFont typeface="+mj-lt"/>
              <a:buAutoNum type="arabicPeriod"/>
            </a:pPr>
            <a:endParaRPr lang="en-US" sz="1800" dirty="0">
              <a:solidFill>
                <a:schemeClr val="tx1"/>
              </a:solidFill>
              <a:uFill>
                <a:noFill/>
              </a:u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8000" lvl="0" indent="-28800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</a:rPr>
              <a:t>https://firebase.google.com/docs/build</a:t>
            </a:r>
          </a:p>
          <a:p>
            <a:pPr marL="288000" lvl="0" indent="-288000"/>
            <a:endParaRPr lang="en-US" sz="2000" dirty="0">
              <a:solidFill>
                <a:schemeClr val="tx1"/>
              </a:solidFill>
              <a:uFill>
                <a:noFill/>
              </a:u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/>
            <a:endParaRPr lang="en-US" sz="2000" dirty="0">
              <a:solidFill>
                <a:schemeClr val="tx1"/>
              </a:solidFill>
              <a:uFill>
                <a:noFill/>
              </a:u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 txBox="1">
            <a:spLocks noGrp="1"/>
          </p:cNvSpPr>
          <p:nvPr>
            <p:ph type="body" idx="4294967295"/>
          </p:nvPr>
        </p:nvSpPr>
        <p:spPr>
          <a:xfrm>
            <a:off x="2362200" y="2646484"/>
            <a:ext cx="7315200" cy="276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 sz="5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51"/>
          <p:cNvSpPr/>
          <p:nvPr/>
        </p:nvSpPr>
        <p:spPr>
          <a:xfrm rot="-1755015">
            <a:off x="1001991" y="397290"/>
            <a:ext cx="1332359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A7"/>
              </a:buClr>
              <a:buSzPts val="2400"/>
              <a:buFont typeface="Algerian"/>
              <a:buNone/>
            </a:pPr>
            <a:r>
              <a:rPr lang="en-US" sz="2400" b="1" i="0" u="none" strike="noStrike" cap="none">
                <a:solidFill>
                  <a:srgbClr val="FFE6A7"/>
                </a:solidFill>
                <a:latin typeface="Algerian"/>
                <a:ea typeface="Algerian"/>
                <a:cs typeface="Algerian"/>
                <a:sym typeface="Algerian"/>
              </a:rPr>
              <a:t>KEC-IT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51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25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51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</TotalTime>
  <Words>755</Words>
  <Application>Microsoft Office PowerPoint</Application>
  <PresentationFormat>Widescreen</PresentationFormat>
  <Paragraphs>162</Paragraphs>
  <Slides>25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Algerian</vt:lpstr>
      <vt:lpstr>Arial</vt:lpstr>
      <vt:lpstr>Calibri</vt:lpstr>
      <vt:lpstr>Noto Sans Symbols</vt:lpstr>
      <vt:lpstr>Times New Roman</vt:lpstr>
      <vt:lpstr>Flow</vt:lpstr>
      <vt:lpstr>Tyres sales and inventory website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for New Cape Hotel</dc:title>
  <dc:creator>babu js</dc:creator>
  <cp:lastModifiedBy>Kamalesh Moorthy</cp:lastModifiedBy>
  <cp:revision>80</cp:revision>
  <dcterms:modified xsi:type="dcterms:W3CDTF">2026-01-05T03:42:52Z</dcterms:modified>
</cp:coreProperties>
</file>